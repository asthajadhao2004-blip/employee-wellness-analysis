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16B3E35-3710-9F5D-37F0-35A7D8ECBDD9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Analyses" id="{4C96FEA8-4368-93B4-3436-453A2AD7670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onclusions" id="{3ECAC218-60E7-CAF7-8B8E-CE92FAA6A647}">
          <p14:sldIdLst>
            <p14:sldId id="287"/>
            <p14:sldId id="288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3E4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28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Wellness EDA</a:t>
            </a:r>
            <a:endParaRPr lang="en-US" sz="800" dirty="0"/>
          </a:p>
        </p:txBody>
      </p:sp>
      <p:sp>
        <p:nvSpPr>
          <p:cNvPr id="3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4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2329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9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4C569B">
              <a:alpha val="45000"/>
            </a:srgbClr>
          </a:solidFill>
          <a:ln w="12700">
            <a:solidFill>
              <a:srgbClr val="4C56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F8F63">
              <a:alpha val="25000"/>
            </a:srgbClr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5852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9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Employee Wellness Analysis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56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seeks mental health treatment at work, and what XYZ Technical Solutions can do about it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1188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7A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mental-health survey  ·  1,048 responses  ·  28 attributes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study mental health at work?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9728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CENTRAL QUESTION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24231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employees need, or may soon need, mental health support, and what drives them to seek it?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0233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analyses  •  4 categories  •  1 notebook</a:t>
            </a:r>
            <a:endParaRPr lang="en-US" sz="900" dirty="0"/>
          </a:p>
        </p:txBody>
      </p:sp>
      <p:sp>
        <p:nvSpPr>
          <p:cNvPr id="8" name="card"/>
          <p:cNvSpPr/>
          <p:nvPr/>
        </p:nvSpPr>
        <p:spPr>
          <a:xfrm>
            <a:off x="3383280" y="10972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399032"/>
            <a:ext cx="457200" cy="457200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399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234440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508760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XYZ lost an important employee to a health crisis. Leadership wants evidence on who is at risk and where support gaps lie.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3383280" y="2258568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560320"/>
            <a:ext cx="457200" cy="457200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39572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2670048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the survey data, run 12 targeted analyses in 4 themes, and turn the patterns into recommendations.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3383280" y="3419856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3721608"/>
            <a:ext cx="457200" cy="457200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557016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831336"/>
            <a:ext cx="43891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documented Jupyter notebook with all code and charts, plus this presentation.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BACKGROUND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Workplace mental-health survey, 1,048 respondents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4300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280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1,048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2024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responses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12848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row per employee</a:t>
            </a:r>
            <a:endParaRPr lang="en-US" sz="900" dirty="0"/>
          </a:p>
        </p:txBody>
      </p:sp>
      <p:sp>
        <p:nvSpPr>
          <p:cNvPr id="8" name="card"/>
          <p:cNvSpPr/>
          <p:nvPr/>
        </p:nvSpPr>
        <p:spPr>
          <a:xfrm>
            <a:off x="2496312" y="114300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1280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192024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33472" y="2212848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Demographic, workplace, support, attitudes</a:t>
            </a:r>
            <a:endParaRPr lang="en-US" sz="900" dirty="0"/>
          </a:p>
        </p:txBody>
      </p:sp>
      <p:sp>
        <p:nvSpPr>
          <p:cNvPr id="12" name="card"/>
          <p:cNvSpPr/>
          <p:nvPr/>
        </p:nvSpPr>
        <p:spPr>
          <a:xfrm>
            <a:off x="4626864" y="114300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1280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61%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192024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the US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12848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15%, Canada 6%</a:t>
            </a:r>
            <a:endParaRPr lang="en-US" sz="900" dirty="0"/>
          </a:p>
        </p:txBody>
      </p:sp>
      <p:sp>
        <p:nvSpPr>
          <p:cNvPr id="16" name="card"/>
          <p:cNvSpPr/>
          <p:nvPr/>
        </p:nvSpPr>
        <p:spPr>
          <a:xfrm>
            <a:off x="6757416" y="114300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57416" y="1280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48.9%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757416" y="1920240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sought treatment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212848"/>
            <a:ext cx="171907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variable: treatment</a:t>
            </a:r>
            <a:endParaRPr lang="en-US" sz="900" dirty="0"/>
          </a:p>
        </p:txBody>
      </p:sp>
      <p:sp>
        <p:nvSpPr>
          <p:cNvPr id="20" name="card"/>
          <p:cNvSpPr/>
          <p:nvPr/>
        </p:nvSpPr>
        <p:spPr>
          <a:xfrm>
            <a:off x="365760" y="301752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154680"/>
            <a:ext cx="7955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</a:t>
            </a:r>
            <a:r>
              <a:rPr lang="en-US" sz="11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(Yes / No), whether the employee has sought mental health treatment.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Messy by design: </a:t>
            </a:r>
            <a:r>
              <a:rPr lang="en-US" sz="11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free-text gender, impossible ages, Excel-corrupted labels and heavy missingness all needed fixing before any chart could be trusted.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DATA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families of variables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4300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5B8FD6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258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Demographic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Age, Gender, Country, state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617720" y="114300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5B8FD6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32588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Workplace factors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size, remote work, tech company, self-employed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365760" y="278892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5B8FD6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9718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Employer support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2044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Benefits, care options, wellness programme, seek help, anonymity, leave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4617720" y="278892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5B8FD6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71800"/>
            <a:ext cx="384048" cy="384048"/>
          </a:xfrm>
          <a:prstGeom prst="ellipse">
            <a:avLst/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2971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9718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Attitudes &amp; outcomes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2044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history, work interference, disclosure willingness, stigma, and the target: treatment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Cleaning and feature engineering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9728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Preparation steps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256032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Profiled shape, dtypes, missing values and duplicates (0 found)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6 impossible ages by treating them as missing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Collapsed 37 gender spellings into 3 groups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Repaired Excel auto-dated company sizes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Imputed, labelled or dropped missing values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097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Added columns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B7C1E8"/>
          </a:solidFill>
          <a:ln w="12700">
            <a:solidFill>
              <a:srgbClr val="B7C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554480"/>
            <a:ext cx="1874520" cy="329184"/>
          </a:xfrm>
          <a:prstGeom prst="roundRect">
            <a:avLst>
              <a:gd name="adj" fmla="val 13889"/>
            </a:avLst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554480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Age_clean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46304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Ages 18–75 kept, rest set to NaN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066544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B7C1E8"/>
          </a:solidFill>
          <a:ln w="12700">
            <a:solidFill>
              <a:srgbClr val="B7C1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157984"/>
            <a:ext cx="1874520" cy="329184"/>
          </a:xfrm>
          <a:prstGeom prst="roundRect">
            <a:avLst>
              <a:gd name="adj" fmla="val 13889"/>
            </a:avLst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2157984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Gender_clean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066544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/ Female / Other-Non-binary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2670048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B7C1E8"/>
          </a:solidFill>
          <a:ln w="12700">
            <a:solidFill>
              <a:srgbClr val="B7C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2761488"/>
            <a:ext cx="1874520" cy="329184"/>
          </a:xfrm>
          <a:prstGeom prst="roundRect">
            <a:avLst>
              <a:gd name="adj" fmla="val 13889"/>
            </a:avLst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2761488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no_employees_clean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70048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Restored labels, ordered categories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3273552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B7C1E8"/>
          </a:solidFill>
          <a:ln w="12700">
            <a:solidFill>
              <a:srgbClr val="B7C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3364992"/>
            <a:ext cx="1874520" cy="329184"/>
          </a:xfrm>
          <a:prstGeom prst="roundRect">
            <a:avLst>
              <a:gd name="adj" fmla="val 13889"/>
            </a:avLst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3364992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work_interfere_clean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273552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Blank → 'Not Applicable'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3877056"/>
            <a:ext cx="5257800" cy="512064"/>
          </a:xfrm>
          <a:prstGeom prst="roundRect">
            <a:avLst>
              <a:gd name="adj" fmla="val 10714"/>
            </a:avLst>
          </a:prstGeom>
          <a:solidFill>
            <a:srgbClr val="B7C1E8"/>
          </a:solidFill>
          <a:ln w="12700">
            <a:solidFill>
              <a:srgbClr val="B7C1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3968496"/>
            <a:ext cx="1874520" cy="329184"/>
          </a:xfrm>
          <a:prstGeom prst="roundRect">
            <a:avLst>
              <a:gd name="adj" fmla="val 13889"/>
            </a:avLst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968496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age_bin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877056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Seven age bands for charts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problems found, four fixes applied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 outliers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-1726 to 99,999,999,999 in raw data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invalid values → NaN. Clean range 18–65, median 31.</a:t>
            </a:r>
            <a:endParaRPr lang="en-US" sz="950" dirty="0"/>
          </a:p>
        </p:txBody>
      </p:sp>
      <p:sp>
        <p:nvSpPr>
          <p:cNvPr id="12" name="card"/>
          <p:cNvSpPr/>
          <p:nvPr/>
        </p:nvSpPr>
        <p:spPr>
          <a:xfrm>
            <a:off x="2496312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3258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9192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679192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Messy gender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79192" y="22860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679192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 free-text spellings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9192" y="32004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679192" y="338328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Mapped to Male 830 / Female 206 / Other 12.</a:t>
            </a:r>
            <a:endParaRPr lang="en-US" sz="950" dirty="0"/>
          </a:p>
        </p:txBody>
      </p:sp>
      <p:sp>
        <p:nvSpPr>
          <p:cNvPr id="20" name="card"/>
          <p:cNvSpPr/>
          <p:nvPr/>
        </p:nvSpPr>
        <p:spPr>
          <a:xfrm>
            <a:off x="4626864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132588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9744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09744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Corrupted labels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09744" y="22860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'25-Jun' and '5-Jan' in company size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32004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809744" y="338328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Restored to '6-25' and '1-5' with ordered categories.</a:t>
            </a:r>
            <a:endParaRPr lang="en-US" sz="950" dirty="0"/>
          </a:p>
        </p:txBody>
      </p:sp>
      <p:sp>
        <p:nvSpPr>
          <p:cNvPr id="28" name="card"/>
          <p:cNvSpPr/>
          <p:nvPr/>
        </p:nvSpPr>
        <p:spPr>
          <a:xfrm>
            <a:off x="6757416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0296" y="1325880"/>
            <a:ext cx="384048" cy="384048"/>
          </a:xfrm>
          <a:prstGeom prst="ellipse">
            <a:avLst/>
          </a:prstGeom>
          <a:solidFill>
            <a:srgbClr val="5B8FD6"/>
          </a:solidFill>
          <a:ln w="12700">
            <a:solidFill>
              <a:srgbClr val="5B8F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0296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0296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940296" y="22860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940296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self_employed 18, work_interfere 236, comments 916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940296" y="320040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940296" y="338328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Mode-fill, 'Not Applicable' label, column dropped.</a:t>
            </a:r>
            <a:endParaRPr lang="en-US" sz="9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ROADMAP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 analyses across 4 categories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252728"/>
            <a:ext cx="1773936" cy="548640"/>
          </a:xfrm>
          <a:prstGeom prst="roundRect">
            <a:avLst>
              <a:gd name="adj" fmla="val 8333"/>
            </a:avLst>
          </a:prstGeom>
          <a:solidFill>
            <a:srgbClr val="232950"/>
          </a:solidFill>
          <a:ln w="12700">
            <a:solidFill>
              <a:srgbClr val="2329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" y="1252728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 responded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116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distribution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432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distribution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4747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Respondent geography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2496312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252728"/>
            <a:ext cx="1773936" cy="548640"/>
          </a:xfrm>
          <a:prstGeom prst="roundRect">
            <a:avLst>
              <a:gd name="adj" fmla="val 8333"/>
            </a:avLst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1252728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Treatment &amp; risk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679192" y="20116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F6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90672" y="20116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overall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79192" y="2743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F6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090672" y="27432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679192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F6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90672" y="34747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interference</a:t>
            </a:r>
            <a:endParaRPr lang="en-US" sz="1050" dirty="0"/>
          </a:p>
        </p:txBody>
      </p:sp>
      <p:sp>
        <p:nvSpPr>
          <p:cNvPr id="22" name="card"/>
          <p:cNvSpPr/>
          <p:nvPr/>
        </p:nvSpPr>
        <p:spPr>
          <a:xfrm>
            <a:off x="4626864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1252728"/>
            <a:ext cx="1773936" cy="548640"/>
          </a:xfrm>
          <a:prstGeom prst="roundRect">
            <a:avLst>
              <a:gd name="adj" fmla="val 8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1252728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Workplace &amp; employer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0116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221224" y="20116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size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09744" y="2743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21224" y="27432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 awareness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809744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221224" y="34747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Employer support</a:t>
            </a:r>
            <a:endParaRPr lang="en-US" sz="1050" dirty="0"/>
          </a:p>
        </p:txBody>
      </p:sp>
      <p:sp>
        <p:nvSpPr>
          <p:cNvPr id="31" name="card"/>
          <p:cNvSpPr/>
          <p:nvPr/>
        </p:nvSpPr>
        <p:spPr>
          <a:xfrm>
            <a:off x="6757416" y="1143000"/>
            <a:ext cx="1993392" cy="3200400"/>
          </a:xfrm>
          <a:prstGeom prst="roundRect">
            <a:avLst>
              <a:gd name="adj" fmla="val 3670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7144" y="1252728"/>
            <a:ext cx="1773936" cy="54864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67144" y="1252728"/>
            <a:ext cx="1773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95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People &amp; culture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940296" y="20116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351776" y="201168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and age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940296" y="2743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351776" y="27432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Stigma and disclosure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940296" y="3474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351776" y="34747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 ranking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1 · WHO RESPONDED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 Distribution of Respondents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Age Distribution of Respondents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1149"/>
            <a:ext cx="5212080" cy="2852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57% aged 25–34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of respondents in the 25–34 bands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age 31, cleaned range 18–65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impossible ages were removed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young workforce: early wellness intervention matters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1 · WHO RESPONDED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 Distribution of Respondents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4302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Age Distribution of Respondents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142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bins   = [17, 24, 29, 34, 39, 44, 49, 75]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labels = ["18-24", "25-29", "30-34", "35-39", "40-44",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"45-49", "50+"]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df["age_bin"] = pd.cut(df["Age_clean"], bins=bins,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labels=labels)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counts = df["age_bin"].value_counts().reindex(labels)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counts.plot(kind="bar", color=PRIMARY, rot=0)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ax.set(title="Age Distribution of Respondents", xlabel="Age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group", ylabel="Respondents")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share_25_34 = counts[["25-29", "30-34"]].sum() / counts.sum()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 100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print(f"Respondents aged 25-34: {share_25_34:.1f}%")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559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1 · WHO RESPONDED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Gender Distribution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Gender Distribution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1149"/>
            <a:ext cx="5212080" cy="2852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79% male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830 · Female 206 · Other 12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Strongly male-dominated sample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comparisons must be read with this imbalance in mind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 may not generalise evenly to XYZ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1 · WHO RESPONDED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Gender Distribution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4302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Gender Distribution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142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counts = df["Gender_clean"].value_counts()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counts.plot(kind="bar", color=ACCENT, rot=0)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ax.set(title="Gender Distribution", xlabel="",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ylabel="Respondents")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print((counts / counts.sum() * 100).round(1).astype(str) + "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%")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559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1 · WHO RESPONDED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Respondent Geography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Respondent Geography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1149"/>
            <a:ext cx="5212080" cy="2852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61.5% from the US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UK 14.6%, Canada 6.1%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and UK together make up three-quarters of responses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access and culture may confound patterns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against XYZ's own locations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1 · WHO RESPONDED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Respondent Geography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4302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Respondent Geography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142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 = df["Country"].value_counts().head(8)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top.sort_values().plot(kind="barh", color=PRIMARY)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ax.set(title="Top 8 Countries by Respondent Count",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xlabel="Respondents", ylabel="")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print((df["Country"].value_counts(normalize=True).head(3) *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100).round(1).astype(str) + " %")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559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2 · TREATMENT &amp; RISK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Treatment-Seeking Overall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Treatment-Seeking Overall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562" y="1143000"/>
            <a:ext cx="3563356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48.9%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sought treatment (512 of 1,048)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an even split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mainstream issue, not a fringe one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organisation-wide, not opt-in-only, support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2 · TREATMENT &amp; RISK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Treatment-Seeking Overall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2822648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Treatment-Seeking Overall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2639768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counts = df["treatment"].value_counts()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fig, ax = plt.subplots(figsize=(5.5, 5.5))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ax.pie(counts, labels=counts.index, autopct="%1.1f%%",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startangle=90,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colors=["#A9D6D2", PRIMARY],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wedgeprops=dict(width=0.45, edgecolor="white"),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textprops={"fontsize": 11})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ax.set_title("Has the Employee Sought Mental Health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Treatment?")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print(counts)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9839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2 · TREATMENT &amp; RISK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Family History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Family History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1149"/>
            <a:ext cx="5212080" cy="2852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73.1% vs 33.6%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rate with vs without family history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than twice the rate (chi-square p &lt; 0.001)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Cramér's V = 0.38, second strongest factor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clear, askable risk marker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2 · TREATMENT &amp; RISK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Family History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4302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Family History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142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ct = pd.crosstab(df["family_history"], df["treatment"],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normalize="index") * 100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ct.plot(kind="bar", color=[WARM, PRIMARY], rot=0)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ax.set(title="Treatment Rate by Family History of Mental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Illness",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xlabel="Family history", ylabel="% of group")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ax.legend(title="Treatment", loc="upper left")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bar_labels(ax, "{:.1f}%")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display(treatment_rate(df, "family_history"))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559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2 · TREATMENT &amp; RISK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 Interference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Work Interferenc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1149"/>
            <a:ext cx="5212080" cy="2852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84% vs 14%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Treated: interferes 'Often' vs 'Never'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Rarely 73%, Sometimes 76%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'Not Applicable' (no condition) is only ~1%, so this is partly circular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it as a severity cue managers can act 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2 · TREATMENT &amp; RISK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 Interference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4302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Work Interferenc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142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order_wi = ["Never", "Rarely", "Sometimes", "Often", "Not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Applicable"]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ct = pd.crosstab(df["work_interfere_clean"],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df["treatment"]).reindex(order_wi)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ct.plot(kind="bar", color=[WARM, PRIMARY], rot=0)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ax.set(title="Treatment by Reported Work Interference",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xlabel="", ylabel="Respondents")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ax.legend(title="Treatment")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display(treatment_rate(df, "work_interfere_clean", order_wi))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559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3 · WORKPLACE &amp; EMPLOYER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Company Size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Company Siz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8208"/>
            <a:ext cx="5212080" cy="2858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42% to 53%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 rate across company-size bands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statistically significant difference (p = 0.18)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Slightly higher at 1–5 employees (53%)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Culture matters more than structure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3 · WORKPLACE &amp; EMPLOYER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Company Size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7398"/>
          </a:xfrm>
          <a:prstGeom prst="roundRect">
            <a:avLst>
              <a:gd name="adj" fmla="val 433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Company Siz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4518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ct = pd.crosstab(df["no_employees_clean"], df["treatment"])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ct.plot(kind="bar", color=[WARM, PRIMARY], rot=0)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ax.set(title="Treatment by Company Size", xlabel="Number of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employees", ylabel="Respondents")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ax.legend(title="Treatment")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display(treatment_rate(df, "no_employees_clean", ORDER_SIZE))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868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3 · WORKPLACE &amp; EMPLOYER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Awareness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Benefits Awareness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1149"/>
            <a:ext cx="5212080" cy="2852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62% vs 36%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 benefits exist vs 'Don't know'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Those answering 'No' sit at 46%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Awareness, not just existence, goes with usage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Communicate what already exists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3 · WORKPLACE &amp; EMPLOYER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Benefits Awareness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1684302"/>
          </a:xfrm>
          <a:prstGeom prst="roundRect">
            <a:avLst>
              <a:gd name="adj" fmla="val 434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Benefits Awareness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150142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ct = pd.crosstab(df["benefits"], df["treatment"])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ct.plot(kind="bar", color=[WARM, PRIMARY], rot=0)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ax.set(title="Treatment by Awareness of Mental Health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Benefits", xlabel="Employer provides benefits?",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ylabel="Respondents")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ax.legend(title="Treatment")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bar_labels(ax)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display(treatment_rate(df, "benefits"))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84559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3 · WORKPLACE &amp; EMPLOYER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Employer Support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8412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Employer Support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609" y="1097280"/>
            <a:ext cx="4896781" cy="260604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36576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 options is the biggest employer-side signal</a:t>
            </a:r>
            <a:endParaRPr lang="en-US" sz="950" dirty="0"/>
          </a:p>
        </p:txBody>
      </p:sp>
      <p:sp>
        <p:nvSpPr>
          <p:cNvPr id="8" name="card"/>
          <p:cNvSpPr/>
          <p:nvPr/>
        </p:nvSpPr>
        <p:spPr>
          <a:xfrm>
            <a:off x="320040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Wellness programme 58% vs 42%; seek-help resources 58% vs 43%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603504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Association, not proof of cause: users know more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502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67% vs 39%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3 · WORKPLACE &amp; EMPLOYER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Employer Support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4023360" cy="2226762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Employer Support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043882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4572000" y="1051560"/>
            <a:ext cx="420624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916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353312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support = {"care_options": "Knows care options",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"wellness_program": "Wellness programme discussed",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"seek_help": "Resources to seek help", "anonymity":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"Anonymity protected",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"leave": "Ease of medical leave", "benefits":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"Employer benefits"}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fig, axes = plt.subplots(2, 3, figsize=(14, 7.5))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ax, (col, title) in zip(axes.ravel(), support.items()):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 = treatment_rate(df, col)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ax.bar(t.index, t["treatment_rate_%"], color=PRIMARY)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ax.bar_label(ax.containers[0], fmt="%.0f%%", padding=2,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fontsize=9)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ax.set(title=title, ylim=(0, 85), ylabel="% treated")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ax.tick_params(axis="x", rotation=25, labelsize=8)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plt.suptitle("Treatment Rate by Employer-Support Indicators",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fontsize=14, fontweight="bold")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4 · PEOPLE &amp; CULTURE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Gender and Age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8412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Gender and Ag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467" y="1097280"/>
            <a:ext cx="6653067" cy="260604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36576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Treatment-seeking rises with age, 41% at 18–24</a:t>
            </a:r>
            <a:endParaRPr lang="en-US" sz="950" dirty="0"/>
          </a:p>
        </p:txBody>
      </p:sp>
      <p:sp>
        <p:nvSpPr>
          <p:cNvPr id="8" name="card"/>
          <p:cNvSpPr/>
          <p:nvPr/>
        </p:nvSpPr>
        <p:spPr>
          <a:xfrm>
            <a:off x="320040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Other/Non-binary 92% but only 12 people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603504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outreach to younger men, who seek help least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502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68% vs 43.5%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4 · PEOPLE &amp; CULTURE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Gender and Age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4023360" cy="1687215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Gender and Ag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1504335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4572000" y="1051560"/>
            <a:ext cx="420624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916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353312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fig, axes = plt.subplots(1, 2, figsize=(12, 4.8))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 = treatment_rate(df, "Gender_clean", ["Male", "Female",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"Other/Non-binary"])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axes[0].bar(g.index, g["treatment_rate_%"], color=[PRIMARY,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ACCENT, WARM])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axes[0].bar_label(axes[0].containers[0],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labels=[f"{v:.1f}%\n(n={n})" for v, n in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zip(g["treatment_rate_%"], g["n"])], padding=3,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fontsize=9)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axes[0].set(title="Treatment Rate by Gender", ylabel="% who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sought treatment", ylim=(0, 110))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= treatment_rate(df, "age_bin", labels)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axes[1].plot(a.index.astype(str), a["treatment_rate_%"],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marker="o", color=PRIMARY, lw=2.5)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x, y in zip(a.index.astype(str), a["treatment_rate_%"]):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axes[1].annotate(f"{y:.0f}%", (x, y), textcoords="offset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points", xytext=(0, 9), ha="center", fontsize=9)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axes[1].set(title="Treatment Rate by Age Group", ylabel="% who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sought treatment", ylim=(30, 80))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4 · PEOPLE &amp; CULTURE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Stigma and Disclosure vs Treatment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8412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Stigma and Disclosur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73" y="1097280"/>
            <a:ext cx="8127854" cy="260604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36576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Fear of consequences: 60% vs 39%</a:t>
            </a:r>
            <a:endParaRPr lang="en-US" sz="950" dirty="0"/>
          </a:p>
        </p:txBody>
      </p:sp>
      <p:sp>
        <p:nvSpPr>
          <p:cNvPr id="8" name="card"/>
          <p:cNvSpPr/>
          <p:nvPr/>
        </p:nvSpPr>
        <p:spPr>
          <a:xfrm>
            <a:off x="320040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Treated staff are less willing to tell a supervisor</a:t>
            </a:r>
            <a:endParaRPr lang="en-US" sz="950" dirty="0"/>
          </a:p>
        </p:txBody>
      </p:sp>
      <p:sp>
        <p:nvSpPr>
          <p:cNvPr id="10" name="card"/>
          <p:cNvSpPr/>
          <p:nvPr/>
        </p:nvSpPr>
        <p:spPr>
          <a:xfrm>
            <a:off x="603504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3886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 confidential channels beyond line managers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502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71% vs 45%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4 · PEOPLE &amp; CULTURE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Stigma and Disclosure vs Treatment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4023360" cy="14142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Stigma and Disclosure vs Treatment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1231376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4572000" y="1051560"/>
            <a:ext cx="420624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916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353312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fig, axes = plt.subplots(1, 3, figsize=(14, 4.6))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panels = [("mental_health_consequence", "Expects negative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consequences\nof disclosing"),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("obs_consequence", "Has observed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negative\nconsequences at work"),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("supervisor", "Would discuss with\nsupervisor")]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ax, (col, title) in zip(axes, panels):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 = treatment_rate(df, col)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ax.bar(t.index, t["treatment_rate_%"], color=[WARM,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ACCENT, PRIMARY][: len(t)])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ax.bar_label(ax.containers[0], fmt="%.0f%%", padding=2,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fontsize=9)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ax.set(title=title, ylim=(0, 85), ylabel="% treated")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4 · PEOPLE &amp; CULTURE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Factors Matter Most?</a:t>
            </a:r>
            <a:endParaRPr lang="en-US" sz="2000" dirty="0"/>
          </a:p>
        </p:txBody>
      </p:sp>
      <p:sp>
        <p:nvSpPr>
          <p:cNvPr id="4" name="chartcard"/>
          <p:cNvSpPr/>
          <p:nvPr/>
        </p:nvSpPr>
        <p:spPr>
          <a:xfrm>
            <a:off x="365760" y="1051560"/>
            <a:ext cx="5394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Which Factors Matter Most?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58" y="1143000"/>
            <a:ext cx="4432165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 = 0.69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659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interference: strongest association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560320"/>
            <a:ext cx="283464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 0.38, care options 0.27, benefits 0.22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work, tech company, self-employed ≈ 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Cramér's V: 0 = none, 1 = perfect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4 · PEOPLE &amp; CULTURE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Factors Matter Most?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51560"/>
            <a:ext cx="2926080" cy="2305191"/>
          </a:xfrm>
          <a:prstGeom prst="roundRect">
            <a:avLst>
              <a:gd name="adj" fmla="val 3173"/>
            </a:avLst>
          </a:prstGeom>
          <a:solidFill>
            <a:srgbClr val="FFFFFF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pic>
        <p:nvPicPr>
          <p:cNvPr id="5" name="Image 0" descr="Which Factors Matter Most?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743200" cy="2122311"/>
          </a:xfrm>
          <a:prstGeom prst="rect">
            <a:avLst/>
          </a:prstGeom>
        </p:spPr>
      </p:pic>
      <p:sp>
        <p:nvSpPr>
          <p:cNvPr id="6" name="code panel"/>
          <p:cNvSpPr/>
          <p:nvPr/>
        </p:nvSpPr>
        <p:spPr>
          <a:xfrm>
            <a:off x="3474720" y="10515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A5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611880" y="1353312"/>
            <a:ext cx="502920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cramers_v(x, y):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ct = pd.crosstab(x, y)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chi2 = chi2_contingency(ct)[0]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 = ct.values.sum()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np.sqrt(chi2 / (n * (min(ct.shape) - 1)))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candidates = ["family_history", "work_interfere_clean",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"benefits", "care_options", "wellness_program",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"seek_help", "anonymity", "leave",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"mental_health_consequence", "phys_health_consequence",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"coworkers", "supervisor",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"mental_health_interview", "phys_health_interview",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"mental_vs_physical", "obs_consequence",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"no_employees_clean", "remote_work",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"tech_company", "self_employed", "Gender_clean"]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assoc = (pd.Series({c: cramers_v(df[c].astype(str),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df["treatment"]) for c in candidates})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.sort_values())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 = assoc.plot(kind="barh", color=[PRIMARY if v &gt;= 0.2 else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"#A9D6D2" for v in assoc], figsize=(9, 7))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ax.set(title="Association with Treatment-Seeking (Cramer's 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V)", xlabel="Cramer's V", ylabel="")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plt.tight_layout(); plt.show()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assoc.sort_values(ascending=False).head(5).round(3).to_frame("</a:t>
            </a:r>
            <a:endParaRPr lang="en-US" sz="680" dirty="0"/>
          </a:p>
          <a:p>
            <a:pPr marL="0" indent="0">
              <a:buNone/>
            </a:pPr>
            <a:r>
              <a:rPr lang="en-US" sz="6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Cramer's V")</a:t>
            </a:r>
            <a:endParaRPr lang="en-US" sz="68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46647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2C9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generated from the notebook's code cell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data says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43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73% vs 34%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history is the strongest independent risk factor</a:t>
            </a:r>
            <a:endParaRPr lang="en-US" sz="1050" dirty="0"/>
          </a:p>
        </p:txBody>
      </p:sp>
      <p:sp>
        <p:nvSpPr>
          <p:cNvPr id="7" name="card"/>
          <p:cNvSpPr/>
          <p:nvPr/>
        </p:nvSpPr>
        <p:spPr>
          <a:xfrm>
            <a:off x="3200400" y="1143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801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84% vs 14%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2024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interference is the strongest signal, partly circular with the target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6035040" y="114300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28016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67% vs 39%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92024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Knowing care options goes with far higher treatment-seeking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365760" y="28803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175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48.9%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Nearly half have sought treatment: mainstream, not fringe</a:t>
            </a:r>
            <a:endParaRPr lang="en-US" sz="1050" dirty="0"/>
          </a:p>
        </p:txBody>
      </p:sp>
      <p:sp>
        <p:nvSpPr>
          <p:cNvPr id="16" name="card"/>
          <p:cNvSpPr/>
          <p:nvPr/>
        </p:nvSpPr>
        <p:spPr>
          <a:xfrm>
            <a:off x="3200400" y="28803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0175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 = 0.18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6576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size has no significant effect; remote work ≈ 0</a:t>
            </a:r>
            <a:endParaRPr lang="en-US" sz="1050" dirty="0"/>
          </a:p>
        </p:txBody>
      </p:sp>
      <p:sp>
        <p:nvSpPr>
          <p:cNvPr id="19" name="card"/>
          <p:cNvSpPr/>
          <p:nvPr/>
        </p:nvSpPr>
        <p:spPr>
          <a:xfrm>
            <a:off x="6035040" y="28803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01752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71% vs 45%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6576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Stigma is visible to those who need care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Practical next steps for XYZ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25296"/>
            <a:ext cx="365760" cy="365760"/>
          </a:xfrm>
          <a:prstGeom prst="ellipse">
            <a:avLst/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2529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097280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Communicate benefits and care options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097280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Awareness goes with a ~26-point higher treatment rate. Make existing programmes visible.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365760" y="180136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29384"/>
            <a:ext cx="365760" cy="365760"/>
          </a:xfrm>
          <a:prstGeom prst="ellipse">
            <a:avLst/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9293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01368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 managers on warning signs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801368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Self-reported work interference is an actionable cue for a supportive check-in.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365760" y="250545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33472"/>
            <a:ext cx="365760" cy="365760"/>
          </a:xfrm>
          <a:prstGeom prst="ellipse">
            <a:avLst/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6334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505456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 in proactive check-ins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505456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~49% already seeking support, do not rely on opt-in programmes alone.</a:t>
            </a:r>
            <a:endParaRPr lang="en-US" sz="1000" dirty="0"/>
          </a:p>
        </p:txBody>
      </p:sp>
      <p:sp>
        <p:nvSpPr>
          <p:cNvPr id="19" name="card"/>
          <p:cNvSpPr/>
          <p:nvPr/>
        </p:nvSpPr>
        <p:spPr>
          <a:xfrm>
            <a:off x="365760" y="320954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37560"/>
            <a:ext cx="365760" cy="365760"/>
          </a:xfrm>
          <a:prstGeom prst="ellipse">
            <a:avLst/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209544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Protect anonymity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209544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Treated staff are less willing to tell supervisors. Offer confidential channels.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365760" y="391363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41648"/>
            <a:ext cx="365760" cy="365760"/>
          </a:xfrm>
          <a:prstGeom prst="ellipse">
            <a:avLst/>
          </a:prstGeom>
          <a:solidFill>
            <a:srgbClr val="FF8F63"/>
          </a:solidFill>
          <a:ln w="12700">
            <a:solidFill>
              <a:srgbClr val="FF8F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041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913632"/>
            <a:ext cx="29260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Validate on XYZ's own data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3913632"/>
            <a:ext cx="46177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Re-run this analysis on XYZ's internal survey before finalising any programme.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body" idx="101" hasCustomPrompt="1"/>
          </p:nvPr>
        </p:nvSpPr>
        <p:spPr>
          <a:xfrm>
            <a:off x="365760" y="2011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FF8F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NEXT STEPS</a:t>
            </a:r>
            <a:endParaRPr lang="en-US" sz="800" dirty="0"/>
          </a:p>
        </p:txBody>
      </p:sp>
      <p:sp>
        <p:nvSpPr>
          <p:cNvPr id="3" name="Text 1"/>
          <p:cNvSpPr/>
          <p:nvPr>
            <p:ph type="title" idx="102" hasCustomPrompt="1"/>
          </p:nvPr>
        </p:nvSpPr>
        <p:spPr>
          <a:xfrm>
            <a:off x="365760" y="45720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 the results with care</a:t>
            </a:r>
            <a:endParaRPr lang="en-US" sz="2000" dirty="0"/>
          </a:p>
        </p:txBody>
      </p:sp>
      <p:sp>
        <p:nvSpPr>
          <p:cNvPr id="4" name="card"/>
          <p:cNvSpPr/>
          <p:nvPr/>
        </p:nvSpPr>
        <p:spPr>
          <a:xfrm>
            <a:off x="365760" y="1143000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232950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4617720" y="1143000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4C569B"/>
          </a:solidFill>
          <a:ln w="6350">
            <a:solidFill>
              <a:srgbClr val="C2C9E6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37033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Association is not causation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Self-reported answers carry recall and social-desirability bias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skews young, male and US/UK-based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 collapsed to three groups; 'Other' has only 12 people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37033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predictive model (logistic regression, gradient boosting) to flag who may need support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same analysis on XYZ's own survey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programme impact over time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C2C9E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lness EDA">
  <a:themeElements>
    <a:clrScheme name="Wellness EDA">
      <a:dk1>
        <a:srgbClr val="232950"/>
      </a:dk1>
      <a:lt1>
        <a:srgbClr val="FFFFFF"/>
      </a:lt1>
      <a:dk2>
        <a:srgbClr val="3E4683"/>
      </a:dk2>
      <a:lt2>
        <a:srgbClr val="F2F4FC"/>
      </a:lt2>
      <a:accent1>
        <a:srgbClr val="FF8F63"/>
      </a:accent1>
      <a:accent2>
        <a:srgbClr val="F2A541"/>
      </a:accent2>
      <a:accent3>
        <a:srgbClr val="2A9D8F"/>
      </a:accent3>
      <a:accent4>
        <a:srgbClr val="5B8FD6"/>
      </a:accent4>
      <a:accent5>
        <a:srgbClr val="4C569B"/>
      </a:accent5>
      <a:accent6>
        <a:srgbClr val="C2C9E6"/>
      </a:accent6>
      <a:hlink>
        <a:srgbClr val="C2C9E6"/>
      </a:hlink>
      <a:folHlink>
        <a:srgbClr val="C2C9E6"/>
      </a:folHlink>
    </a:clrScheme>
    <a:fontScheme name="Wellness E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llness EDA">
  <a:themeElements>
    <a:clrScheme name="Wellness EDA">
      <a:dk1>
        <a:srgbClr val="232950"/>
      </a:dk1>
      <a:lt1>
        <a:srgbClr val="FFFFFF"/>
      </a:lt1>
      <a:dk2>
        <a:srgbClr val="3E4683"/>
      </a:dk2>
      <a:lt2>
        <a:srgbClr val="F2F4FC"/>
      </a:lt2>
      <a:accent1>
        <a:srgbClr val="FF8F63"/>
      </a:accent1>
      <a:accent2>
        <a:srgbClr val="F2A541"/>
      </a:accent2>
      <a:accent3>
        <a:srgbClr val="2A9D8F"/>
      </a:accent3>
      <a:accent4>
        <a:srgbClr val="5B8FD6"/>
      </a:accent4>
      <a:accent5>
        <a:srgbClr val="4C569B"/>
      </a:accent5>
      <a:accent6>
        <a:srgbClr val="C2C9E6"/>
      </a:accent6>
      <a:hlink>
        <a:srgbClr val="C2C9E6"/>
      </a:hlink>
      <a:folHlink>
        <a:srgbClr val="C2C9E6"/>
      </a:folHlink>
    </a:clrScheme>
    <a:fontScheme name="Wellness ED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14617</Words>
  <Application>WPS Presentation</Application>
  <PresentationFormat>On-screen Show (16:9)</PresentationFormat>
  <Paragraphs>786</Paragraphs>
  <Slides>34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Microsoft YaHei</vt:lpstr>
      <vt:lpstr>Arial Unicode MS</vt:lpstr>
      <vt:lpstr>Wellness EDA</vt:lpstr>
      <vt:lpstr>PowerPoint 演示文稿</vt:lpstr>
      <vt:lpstr>Why study mental health at work?</vt:lpstr>
      <vt:lpstr>Workplace mental-health survey, 1,048 respondents</vt:lpstr>
      <vt:lpstr>Four families of variables</vt:lpstr>
      <vt:lpstr>Cleaning and feature engineering</vt:lpstr>
      <vt:lpstr>Four problems found, four fixes applied</vt:lpstr>
      <vt:lpstr>12 analyses across 4 categories</vt:lpstr>
      <vt:lpstr>Age Distribution of Respondents</vt:lpstr>
      <vt:lpstr>Age Distribution of Respondents</vt:lpstr>
      <vt:lpstr>Gender Distribution</vt:lpstr>
      <vt:lpstr>Gender Distribution</vt:lpstr>
      <vt:lpstr>Respondent Geography</vt:lpstr>
      <vt:lpstr>Respondent Geography</vt:lpstr>
      <vt:lpstr>Treatment-Seeking Overall</vt:lpstr>
      <vt:lpstr>Treatment-Seeking Overall</vt:lpstr>
      <vt:lpstr>Family History vs Treatment</vt:lpstr>
      <vt:lpstr>Family History vs Treatment</vt:lpstr>
      <vt:lpstr>Work Interference vs Treatment</vt:lpstr>
      <vt:lpstr>Work Interference vs Treatment</vt:lpstr>
      <vt:lpstr>Company Size vs Treatment</vt:lpstr>
      <vt:lpstr>Company Size vs Treatment</vt:lpstr>
      <vt:lpstr>Benefits Awareness vs Treatment</vt:lpstr>
      <vt:lpstr>Benefits Awareness vs Treatment</vt:lpstr>
      <vt:lpstr>Employer Support vs Treatment</vt:lpstr>
      <vt:lpstr>Employer Support vs Treatment</vt:lpstr>
      <vt:lpstr>Gender and Age vs Treatment</vt:lpstr>
      <vt:lpstr>Gender and Age vs Treatment</vt:lpstr>
      <vt:lpstr>Stigma and Disclosure vs Treatment</vt:lpstr>
      <vt:lpstr>Stigma and Disclosure vs Treatment</vt:lpstr>
      <vt:lpstr>Which Factors Matter Most?</vt:lpstr>
      <vt:lpstr>Which Factors Matter Most?</vt:lpstr>
      <vt:lpstr>What the data says</vt:lpstr>
      <vt:lpstr>Practical next steps for XYZ</vt:lpstr>
      <vt:lpstr>Reading the results with care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Wellness Analysis</dc:title>
  <dc:creator>Group</dc:creator>
  <dc:subject>PptxGenJS Presentation</dc:subject>
  <cp:lastModifiedBy>Aastha Jadhao</cp:lastModifiedBy>
  <cp:revision>3</cp:revision>
  <dcterms:created xsi:type="dcterms:W3CDTF">2026-10-19T06:09:00Z</dcterms:created>
  <dcterms:modified xsi:type="dcterms:W3CDTF">2026-10-19T06:11:25Z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A6F95D4B7AE14FF8A2B0B6559CFED3A7_12</vt:lpwstr>
  </property>
  <property fmtid="{D5CDD505-2E9C-101B-9397-08002B2CF9AE}" pid="3" name="KSOProductBuildVer">
    <vt:lpwstr>1033-12.1.0.29162</vt:lpwstr>
  </property>
</Properties>
</file>